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Arial Black"/>
              </a:defRPr>
            </a:pPr>
            <a:r>
              <a:t>🛡️ EXPLICACIÓN TÉCNICA DE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defRPr sz="4600" b="1">
                <a:solidFill>
                  <a:srgbClr val="000000"/>
                </a:solidFill>
                <a:latin typeface="Arial Black"/>
              </a:defRPr>
            </a:pPr>
            <a:r>
              <a:t>SISTEMA DE DETECCIÓN</a:t>
            </a:r>
            <a:br/>
            <a:r>
              <a:t>Y RECONOCIMIENTO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defRPr sz="2000">
                <a:solidFill>
                  <a:srgbClr val="3C3C3C"/>
                </a:solidFill>
                <a:latin typeface="Arial"/>
              </a:defRPr>
            </a:pPr>
            <a:r>
              <a:t>¿Cómo funciona nuestro código, qué librerías utilizamos y por qué tomamos cada decisión de ingeniería?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" y="5413248"/>
            <a:ext cx="2743200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5303520"/>
            <a:ext cx="274320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2743200" cy="91440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defRPr sz="1100">
                <a:solidFill>
                  <a:srgbClr val="3C3C3C"/>
                </a:solidFill>
                <a:latin typeface="Arial Black"/>
              </a:defRPr>
            </a:pPr>
            <a:r>
              <a:t>SERVIDOR</a:t>
            </a:r>
          </a:p>
          <a:p>
            <a:pPr>
              <a:defRPr sz="1600" b="1">
                <a:solidFill>
                  <a:srgbClr val="000000"/>
                </a:solidFill>
                <a:latin typeface="Arial"/>
              </a:defRPr>
            </a:pPr>
            <a:r>
              <a:t>Python 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224528" y="5413248"/>
            <a:ext cx="2743200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5303520"/>
            <a:ext cx="274320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5303520"/>
            <a:ext cx="2743200" cy="91440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defRPr sz="1100">
                <a:solidFill>
                  <a:srgbClr val="3C3C3C"/>
                </a:solidFill>
                <a:latin typeface="Arial Black"/>
              </a:defRPr>
            </a:pPr>
            <a:r>
              <a:t>CLIENTE</a:t>
            </a:r>
          </a:p>
          <a:p>
            <a:pPr>
              <a:defRPr sz="1600" b="1">
                <a:solidFill>
                  <a:srgbClr val="000000"/>
                </a:solidFill>
                <a:latin typeface="Arial"/>
              </a:defRPr>
            </a:pPr>
            <a:r>
              <a:t>Flutter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 Black"/>
              </a:defRPr>
            </a:pPr>
            <a:r>
              <a:t>EL SERVIDOR DE 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5303520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30352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303520" cy="457200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Arial Black"/>
              </a:defRPr>
            </a:pPr>
            <a:r>
              <a:t>LIBRERÍAS: FASTAPI, WEBSOCKETS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■ FastAPI / Sockets: </a:t>
            </a:r>
            <a:r>
              <a:rPr sz="1300">
                <a:solidFill>
                  <a:srgbClr val="3C3C3C"/>
                </a:solidFill>
                <a:latin typeface="Arial"/>
              </a:rPr>
              <a:t>Servidor para endpoints y sockets.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■ WebSockets: </a:t>
            </a:r>
            <a:r>
              <a:rPr sz="1300">
                <a:solidFill>
                  <a:srgbClr val="3C3C3C"/>
                </a:solidFill>
                <a:latin typeface="Arial"/>
              </a:rPr>
              <a:t>Conexión abierta para video en tiempo real.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14800"/>
            <a:ext cx="48463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000">
                <a:solidFill>
                  <a:srgbClr val="000000"/>
                </a:solidFill>
                <a:latin typeface="Arial Black"/>
              </a:defRPr>
            </a:pPr>
            <a:r>
              <a:t>¿QUÉ ES BASE64?</a:t>
            </a:r>
          </a:p>
          <a:p>
            <a:pPr>
              <a:defRPr sz="1100">
                <a:solidFill>
                  <a:srgbClr val="3C3C3C"/>
                </a:solidFill>
                <a:latin typeface="Arial"/>
              </a:defRPr>
            </a:pPr>
            <a:r>
              <a:t>Codificación que convierte fotos JPEG binarias a texto. Permite enviar el video dentro de mensajes JSON normales por WebSocket.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19088" y="1298448"/>
            <a:ext cx="5303520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30352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03520" cy="457200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Arial Black"/>
              </a:defRPr>
            </a:pPr>
            <a:r>
              <a:t>CÓDIGO EN SERVIDOR_IA.PY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2286000"/>
            <a:ext cx="4846320" cy="3200400"/>
          </a:xfrm>
          <a:prstGeom prst="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100">
                <a:solidFill>
                  <a:srgbClr val="000000"/>
                </a:solidFill>
                <a:latin typeface="Consolas"/>
              </a:defRPr>
            </a:pPr>
            <a:r>
              <a:t>b64_str = base64.b64encode(jpeg).decode("ascii")</a:t>
            </a:r>
            <a:br/>
            <a:r>
              <a:t>payload = {</a:t>
            </a:r>
            <a:br/>
            <a:r>
              <a:t>    "type": "fotograma",</a:t>
            </a:r>
            <a:br/>
            <a:r>
              <a:t>    "data": b64_str</a:t>
            </a:r>
            <a:br/>
            <a:r>
              <a:t>}</a:t>
            </a:r>
            <a:br/>
            <a:r>
              <a:t>await cliente.send_text(json.dumps(payload))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035040"/>
            <a:ext cx="11094415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71455" y="6126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0000"/>
                </a:solidFill>
                <a:latin typeface="Arial Black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508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 Black"/>
              </a:defRPr>
            </a:pPr>
            <a:r>
              <a:t>AUTO-DESCUBRIMIENTO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5303520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30352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303520" cy="457200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Arial Black"/>
              </a:defRPr>
            </a:pPr>
            <a:r>
              <a:t>LIBRERÍA: ZEROCONF (MDNS)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■ mDNS: </a:t>
            </a:r>
            <a:r>
              <a:rPr sz="1300">
                <a:solidFill>
                  <a:srgbClr val="3C3C3C"/>
                </a:solidFill>
                <a:latin typeface="Arial"/>
              </a:rPr>
              <a:t>Resuelve nombres de host de forma local.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■ Auto-conexión: </a:t>
            </a:r>
            <a:r>
              <a:rPr sz="1300">
                <a:solidFill>
                  <a:srgbClr val="3C3C3C"/>
                </a:solidFill>
                <a:latin typeface="Arial"/>
              </a:rPr>
              <a:t>El servidor se anuncia y la app Flutter se conecta sola sin configurar IPs.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14800"/>
            <a:ext cx="48463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000">
                <a:solidFill>
                  <a:srgbClr val="000000"/>
                </a:solidFill>
                <a:latin typeface="Arial Black"/>
              </a:defRPr>
            </a:pPr>
            <a:r>
              <a:t>¿POR QUÉ LO USAMOS?</a:t>
            </a:r>
          </a:p>
          <a:p>
            <a:pPr>
              <a:defRPr sz="1100">
                <a:solidFill>
                  <a:srgbClr val="3C3C3C"/>
                </a:solidFill>
                <a:latin typeface="Arial"/>
              </a:defRPr>
            </a:pPr>
            <a:r>
              <a:t>Evita ingresar la IP local del servidor a mano. Las IPs cambian cada vez que se reinicia el router local.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19088" y="1298448"/>
            <a:ext cx="5303520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30352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03520" cy="457200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Arial Black"/>
              </a:defRPr>
            </a:pPr>
            <a:r>
              <a:t>ANUNCIO EN CÓDIGO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2286000"/>
            <a:ext cx="4846320" cy="3200400"/>
          </a:xfrm>
          <a:prstGeom prst="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100">
                <a:solidFill>
                  <a:srgbClr val="000000"/>
                </a:solidFill>
                <a:latin typeface="Consolas"/>
              </a:defRPr>
            </a:pPr>
            <a:r>
              <a:t>info = ServiceInfo(</a:t>
            </a:r>
            <a:br/>
            <a:r>
              <a:t>    "_alertavecinal._tcp.local.",</a:t>
            </a:r>
            <a:br/>
            <a:r>
              <a:t>    "ServidorIA._alertavecinal...",</a:t>
            </a:r>
            <a:br/>
            <a:r>
              <a:t>    addresses=[ip_local],</a:t>
            </a:r>
            <a:br/>
            <a:r>
              <a:t>    port=8765</a:t>
            </a:r>
            <a:br/>
            <a:r>
              <a:t>)</a:t>
            </a:r>
            <a:br/>
            <a:r>
              <a:t>zeroconf.register_service(info)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035040"/>
            <a:ext cx="11094415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71455" y="6126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0000"/>
                </a:solidFill>
                <a:latin typeface="Arial Black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76678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 Black"/>
              </a:defRPr>
            </a:pPr>
            <a:r>
              <a:t>DETECCIÓN CON YOLOV11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5303520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30352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303520" cy="457200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Arial Black"/>
              </a:defRPr>
            </a:pPr>
            <a:r>
              <a:t>LIBRERÍAS: ULTRALYTICS, TORCH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■ YOLOv11: </a:t>
            </a:r>
            <a:r>
              <a:rPr sz="1300">
                <a:solidFill>
                  <a:srgbClr val="3C3C3C"/>
                </a:solidFill>
                <a:latin typeface="Arial"/>
              </a:rPr>
              <a:t>Detecta objetos en milisegundos.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■ Fases: </a:t>
            </a:r>
            <a:r>
              <a:rPr sz="1300">
                <a:solidFill>
                  <a:srgbClr val="3C3C3C"/>
                </a:solidFill>
                <a:latin typeface="Arial"/>
              </a:rPr>
              <a:t>Rastrear vehículos y detectar matrículas sólo dentro del recorte del auto.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14800"/>
            <a:ext cx="48463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000">
                <a:solidFill>
                  <a:srgbClr val="000000"/>
                </a:solidFill>
                <a:latin typeface="Arial Black"/>
              </a:defRPr>
            </a:pPr>
            <a:r>
              <a:t>¿POR QUÉ SE REQUIERE GPU (CUDA)?</a:t>
            </a:r>
          </a:p>
          <a:p>
            <a:pPr>
              <a:defRPr sz="1100">
                <a:solidFill>
                  <a:srgbClr val="3C3C3C"/>
                </a:solidFill>
                <a:latin typeface="Arial"/>
              </a:defRPr>
            </a:pPr>
            <a:r>
              <a:t>Ejecuta la IA a 30-60 FPS de forma fluida. Correr en CPU ralentizaría el sistema a solo 2 FPS.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19088" y="1298448"/>
            <a:ext cx="5303520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30352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03520" cy="457200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Arial Black"/>
              </a:defRPr>
            </a:pPr>
            <a:r>
              <a:t>CÓDIGO DE RASTREO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2286000"/>
            <a:ext cx="4846320" cy="3200400"/>
          </a:xfrm>
          <a:prstGeom prst="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100">
                <a:solidFill>
                  <a:srgbClr val="000000"/>
                </a:solidFill>
                <a:latin typeface="Consolas"/>
              </a:defRPr>
            </a:pPr>
            <a:r>
              <a:t>res_v = modelo_vehiculos.track(frame)</a:t>
            </a:r>
            <a:br/>
            <a:r>
              <a:t>roi_auto = frame[y1:y2, x1:x2]</a:t>
            </a:r>
            <a:br/>
            <a:br/>
            <a:r>
              <a:t># Buscar placa en la región del auto</a:t>
            </a:r>
            <a:br/>
            <a:r>
              <a:t>res_p = modelo_placas(roi_auto)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035040"/>
            <a:ext cx="11094415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71455" y="6126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0000"/>
                </a:solidFill>
                <a:latin typeface="Arial Black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 Black"/>
              </a:defRPr>
            </a:pPr>
            <a:r>
              <a:t>LECTURA DE MATRÍCULAS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5303520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30352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303520" cy="457200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Arial Black"/>
              </a:defRPr>
            </a:pPr>
            <a:r>
              <a:t>LIBRERÍA: EASYOCR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■ EasyOCR: </a:t>
            </a:r>
            <a:r>
              <a:rPr sz="1300">
                <a:solidFill>
                  <a:srgbClr val="3C3C3C"/>
                </a:solidFill>
                <a:latin typeface="Arial"/>
              </a:rPr>
              <a:t>Traduce caracteres visuales a texto digital.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■ Allowlist: </a:t>
            </a:r>
            <a:r>
              <a:rPr sz="1300">
                <a:solidFill>
                  <a:srgbClr val="3C3C3C"/>
                </a:solidFill>
                <a:latin typeface="Arial"/>
              </a:rPr>
              <a:t>Limita a letras A-Z y números, ignorando tornillos o marcas de placa.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14800"/>
            <a:ext cx="48463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000">
                <a:solidFill>
                  <a:srgbClr val="000000"/>
                </a:solidFill>
                <a:latin typeface="Arial Black"/>
              </a:defRPr>
            </a:pPr>
            <a:r>
              <a:t>¿POR QUÉ USAR SUBPROCESOS (THREADPOOL)?</a:t>
            </a:r>
          </a:p>
          <a:p>
            <a:pPr>
              <a:defRPr sz="1100">
                <a:solidFill>
                  <a:srgbClr val="3C3C3C"/>
                </a:solidFill>
                <a:latin typeface="Arial"/>
              </a:defRPr>
            </a:pPr>
            <a:r>
              <a:t>El OCR tarda ~100ms. Ejecutarlo en segundo plano mantiene la transmisión de video fluida.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19088" y="1298448"/>
            <a:ext cx="5303520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30352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03520" cy="457200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Arial Black"/>
              </a:defRPr>
            </a:pPr>
            <a:r>
              <a:t>LÓGICA DEL OCR ASÍNCRONO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2286000"/>
            <a:ext cx="4846320" cy="3200400"/>
          </a:xfrm>
          <a:prstGeom prst="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100">
                <a:solidFill>
                  <a:srgbClr val="000000"/>
                </a:solidFill>
                <a:latin typeface="Consolas"/>
              </a:defRPr>
            </a:pPr>
            <a:r>
              <a:t># Enviar tarea OCR a pool de hilos</a:t>
            </a:r>
            <a:br/>
            <a:r>
              <a:t>ejecutor = ThreadPoolExecutor(max_workers=2)</a:t>
            </a:r>
            <a:br/>
            <a:r>
              <a:t>ejecutor.submit(_ocr_task, id_r, img_placa)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035040"/>
            <a:ext cx="11094415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71455" y="6126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0000"/>
                </a:solidFill>
                <a:latin typeface="Arial Black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017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 Black"/>
              </a:defRPr>
            </a:pPr>
            <a:r>
              <a:t>PREPROCESAMIENTO DE IMAGEN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5303520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30352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303520" cy="457200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Arial Black"/>
              </a:defRPr>
            </a:pPr>
            <a:r>
              <a:t>LIBRERÍA: OPENCV-PYTHON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■ Escalado (`cv2.resize`): </a:t>
            </a:r>
            <a:r>
              <a:rPr sz="1300">
                <a:solidFill>
                  <a:srgbClr val="3C3C3C"/>
                </a:solidFill>
                <a:latin typeface="Arial"/>
              </a:rPr>
              <a:t>Forzamos altura de 100 píxeles para estandarizar caracteres.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■ Grayscale (`cv2.cvtColor`): </a:t>
            </a:r>
            <a:r>
              <a:rPr sz="1300">
                <a:solidFill>
                  <a:srgbClr val="3C3C3C"/>
                </a:solidFill>
                <a:latin typeface="Arial"/>
              </a:rPr>
              <a:t>Descarta colores para reducir datos y ahorrar procesamiento.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19088" y="1298448"/>
            <a:ext cx="5303520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30352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188720"/>
            <a:ext cx="5303520" cy="457200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Arial Black"/>
              </a:defRPr>
            </a:pPr>
            <a:r>
              <a:t>IMPLEMENTACIÓN OPENCV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2286000"/>
            <a:ext cx="4846320" cy="3200400"/>
          </a:xfrm>
          <a:prstGeom prst="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100">
                <a:solidFill>
                  <a:srgbClr val="000000"/>
                </a:solidFill>
                <a:latin typeface="Consolas"/>
              </a:defRPr>
            </a:pPr>
            <a:r>
              <a:t>scale = 100.0 / plate_height</a:t>
            </a:r>
            <a:br/>
            <a:r>
              <a:t>resized = cv2.resize(roi_placa, None, </a:t>
            </a:r>
            <a:br/>
            <a:r>
              <a:t>    fx=scale, fy=scale, </a:t>
            </a:r>
            <a:br/>
            <a:r>
              <a:t>    interpolation=cv2.INTER_LANCZOS4)</a:t>
            </a:r>
            <a:br/>
            <a:br/>
            <a:r>
              <a:t>gray = cv2.cvtColor(resized, cv2.COLOR_BGR2GRAY)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035040"/>
            <a:ext cx="11094415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1455" y="6126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0000"/>
                </a:solidFill>
                <a:latin typeface="Arial Black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86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 Black"/>
              </a:defRPr>
            </a:pPr>
            <a:r>
              <a:t>FILTROS AVANZADOS OPENCV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5303520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30352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303520" cy="457200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Arial Black"/>
              </a:defRPr>
            </a:pPr>
            <a:r>
              <a:t>CLAHE &amp; UMBRAL ADAPTATIVO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■ CLAHE: </a:t>
            </a:r>
            <a:r>
              <a:rPr sz="1300">
                <a:solidFill>
                  <a:srgbClr val="3C3C3C"/>
                </a:solidFill>
                <a:latin typeface="Arial"/>
              </a:rPr>
              <a:t>Ecualiza contraste por zonas para resaltar letras bajo brillos.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■ Umbral Adaptativo: </a:t>
            </a:r>
            <a:r>
              <a:rPr sz="1300">
                <a:solidFill>
                  <a:srgbClr val="3C3C3C"/>
                </a:solidFill>
                <a:latin typeface="Arial"/>
              </a:rPr>
              <a:t>Convierte a blanco y negro absoluto adaptando la luz de cada zona.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14800"/>
            <a:ext cx="48463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000">
                <a:solidFill>
                  <a:srgbClr val="000000"/>
                </a:solidFill>
                <a:latin typeface="Arial Black"/>
              </a:defRPr>
            </a:pPr>
            <a:r>
              <a:t>¿POR QUÉ UMBRAL ADAPTATIVO?</a:t>
            </a:r>
          </a:p>
          <a:p>
            <a:pPr>
              <a:defRPr sz="1100">
                <a:solidFill>
                  <a:srgbClr val="3C3C3C"/>
                </a:solidFill>
                <a:latin typeface="Arial"/>
              </a:defRPr>
            </a:pPr>
            <a:r>
              <a:t>Un umbral fijo falla ante sombras. El adaptativo calcula cortes de binarización por píxel según sus vecinos.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19088" y="1298448"/>
            <a:ext cx="5303520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30352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03520" cy="457200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Arial Black"/>
              </a:defRPr>
            </a:pPr>
            <a:r>
              <a:t>LÓGICA OPENCV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2286000"/>
            <a:ext cx="4846320" cy="3200400"/>
          </a:xfrm>
          <a:prstGeom prst="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100">
                <a:solidFill>
                  <a:srgbClr val="000000"/>
                </a:solidFill>
                <a:latin typeface="Consolas"/>
              </a:defRPr>
            </a:pPr>
            <a:r>
              <a:t>clahe = cv2.createCLAHE(clipLimit=2.0)</a:t>
            </a:r>
            <a:br/>
            <a:r>
              <a:t>contrast = clahe.apply(gray_plate)</a:t>
            </a:r>
            <a:br/>
            <a:br/>
            <a:r>
              <a:t>thresh = cv2.adaptiveThreshold(contrast, 255,</a:t>
            </a:r>
            <a:br/>
            <a:r>
              <a:t>    cv2.ADAPTIVE_THRESH_GAUSSIAN_C,</a:t>
            </a:r>
            <a:br/>
            <a:r>
              <a:t>    cv2.THRESH_BINARY_INV, 11, 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035040"/>
            <a:ext cx="11094415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71455" y="6126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0000"/>
                </a:solidFill>
                <a:latin typeface="Arial Black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356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 Black"/>
              </a:defRPr>
            </a:pPr>
            <a:r>
              <a:t>BASE DE DATOS Y BÚSQUEDA DIFUSA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5303520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30352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303520" cy="457200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Arial Black"/>
              </a:defRPr>
            </a:pPr>
            <a:r>
              <a:t>LIBRERÍAS: SQLITE3, DIFFLIB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■ SQLite (`database.py`): </a:t>
            </a:r>
            <a:r>
              <a:rPr sz="1300">
                <a:solidFill>
                  <a:srgbClr val="3C3C3C"/>
                </a:solidFill>
                <a:latin typeface="Arial"/>
              </a:rPr>
              <a:t>Almacén de placas reportadas e historial local de alertas.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■ difflib: </a:t>
            </a:r>
            <a:r>
              <a:rPr sz="1300">
                <a:solidFill>
                  <a:srgbClr val="3C3C3C"/>
                </a:solidFill>
                <a:latin typeface="Arial"/>
              </a:rPr>
              <a:t>Compara el parecido de textos.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14800"/>
            <a:ext cx="48463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000">
                <a:solidFill>
                  <a:srgbClr val="000000"/>
                </a:solidFill>
                <a:latin typeface="Arial Black"/>
              </a:defRPr>
            </a:pPr>
            <a:r>
              <a:t>¿POR QUÉ USAR BÚSQUEDA DIFUSA?</a:t>
            </a:r>
          </a:p>
          <a:p>
            <a:pPr>
              <a:defRPr sz="1100">
                <a:solidFill>
                  <a:srgbClr val="3C3C3C"/>
                </a:solidFill>
                <a:latin typeface="Arial"/>
              </a:defRPr>
            </a:pPr>
            <a:r>
              <a:t>Si el OCR lee mal un carácter (ej. 'B' por '8'), detecta similitud &gt; 80% y dispara la alerta vecinal.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19088" y="1298448"/>
            <a:ext cx="5303520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30352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03520" cy="457200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Arial Black"/>
              </a:defRPr>
            </a:pPr>
            <a:r>
              <a:t>CÓDIGO DE COMPARACIÓN DIFUSA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2286000"/>
            <a:ext cx="4846320" cy="3200400"/>
          </a:xfrm>
          <a:prstGeom prst="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100">
                <a:solidFill>
                  <a:srgbClr val="000000"/>
                </a:solidFill>
                <a:latin typeface="Consolas"/>
              </a:defRPr>
            </a:pPr>
            <a:r>
              <a:t>sim = difflib.SequenceMatcher(None, </a:t>
            </a:r>
            <a:br/>
            <a:r>
              <a:t>    texto_detectado, placa_bd).ratio()</a:t>
            </a:r>
            <a:br/>
            <a:br/>
            <a:r>
              <a:t>if sim &gt;= 0.80:</a:t>
            </a:r>
            <a:br/>
            <a:r>
              <a:t>    registrar_alerta_robo()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035040"/>
            <a:ext cx="11094415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71455" y="6126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0000"/>
                </a:solidFill>
                <a:latin typeface="Arial Black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52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 Black"/>
              </a:defRPr>
            </a:pPr>
            <a:r>
              <a:t>ALERTAS, PRIVACIDAD Y MSS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5303520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30352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303520" cy="457200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Arial Black"/>
              </a:defRPr>
            </a:pPr>
            <a:r>
              <a:t>ALERTAS: TELEGRAM, TWILIO | CAPTURA: MSS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■ Alertas de Red: </a:t>
            </a:r>
            <a:r>
              <a:rPr sz="1300">
                <a:solidFill>
                  <a:srgbClr val="3C3C3C"/>
                </a:solidFill>
                <a:latin typeface="Arial"/>
              </a:rPr>
              <a:t>Telegram y WhatsApp se envían asíncronamente en subprocesos.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■ Blur Gaussiano: </a:t>
            </a:r>
            <a:r>
              <a:rPr sz="1300">
                <a:solidFill>
                  <a:srgbClr val="3C3C3C"/>
                </a:solidFill>
                <a:latin typeface="Arial"/>
              </a:rPr>
              <a:t>Difumina rostros y placas por privacidad.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■ MSS: </a:t>
            </a:r>
            <a:r>
              <a:rPr sz="1300">
                <a:solidFill>
                  <a:srgbClr val="3C3C3C"/>
                </a:solidFill>
                <a:latin typeface="Arial"/>
              </a:rPr>
              <a:t>Captura pantalla si no hay stream directo.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14800"/>
            <a:ext cx="48463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000">
                <a:solidFill>
                  <a:srgbClr val="000000"/>
                </a:solidFill>
                <a:latin typeface="Arial Black"/>
              </a:defRPr>
            </a:pPr>
            <a:r>
              <a:t>¿POR QUÉ VAN EN SUBPROCESOS?</a:t>
            </a:r>
          </a:p>
          <a:p>
            <a:pPr>
              <a:defRPr sz="1100">
                <a:solidFill>
                  <a:srgbClr val="3C3C3C"/>
                </a:solidFill>
                <a:latin typeface="Arial"/>
              </a:defRPr>
            </a:pPr>
            <a:r>
              <a:t>Subir fotos tarda 1-3s. Hacerlo en segundo plano evita congelar el video en tiempo real.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19088" y="1298448"/>
            <a:ext cx="5303520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30352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03520" cy="457200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37960" y="4114800"/>
            <a:ext cx="48463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000">
                <a:solidFill>
                  <a:srgbClr val="000000"/>
                </a:solidFill>
                <a:latin typeface="Arial Black"/>
              </a:defRPr>
            </a:pPr>
            <a:r>
              <a:t>¿QUÉ HACE MSS EN "YI IOT"?</a:t>
            </a:r>
          </a:p>
          <a:p>
            <a:pPr>
              <a:defRPr sz="1100">
                <a:solidFill>
                  <a:srgbClr val="3C3C3C"/>
                </a:solidFill>
                <a:latin typeface="Arial"/>
              </a:defRPr>
            </a:pPr>
            <a:r>
              <a:t>Captura los fotogramas directamente de la ventana del software oficial de Windows a alta velocidad.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286000"/>
            <a:ext cx="219456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ctr">
              <a:defRPr sz="1100">
                <a:solidFill>
                  <a:srgbClr val="000000"/>
                </a:solidFill>
                <a:latin typeface="Arial Black"/>
              </a:defRPr>
            </a:pPr>
            <a:r>
              <a:t>Telegram Bot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2286000"/>
            <a:ext cx="219456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ctr">
              <a:defRPr sz="1100">
                <a:solidFill>
                  <a:srgbClr val="000000"/>
                </a:solidFill>
                <a:latin typeface="Arial Black"/>
              </a:defRPr>
            </a:pPr>
            <a:r>
              <a:t>Twilio WA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3017520"/>
            <a:ext cx="219456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ctr">
              <a:defRPr sz="1100">
                <a:solidFill>
                  <a:srgbClr val="000000"/>
                </a:solidFill>
                <a:latin typeface="Arial Black"/>
              </a:defRPr>
            </a:pPr>
            <a:r>
              <a:t>Gauss Blur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3017520"/>
            <a:ext cx="219456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ctr">
              <a:defRPr sz="1100">
                <a:solidFill>
                  <a:srgbClr val="000000"/>
                </a:solidFill>
                <a:latin typeface="Arial Black"/>
              </a:defRPr>
            </a:pPr>
            <a:r>
              <a:t>MSS Captura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035040"/>
            <a:ext cx="11094415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71455" y="6126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0000"/>
                </a:solidFill>
                <a:latin typeface="Arial Black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 Black"/>
              </a:defRPr>
            </a:pPr>
            <a:r>
              <a:t>REQUISITOS DE LA APP DE PC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5303520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30352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303520" cy="457200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Arial Black"/>
              </a:defRPr>
            </a:pPr>
            <a:r>
              <a:t>REQUISITOS DE SOFTWARE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■ SO: </a:t>
            </a:r>
            <a:r>
              <a:rPr sz="1300">
                <a:solidFill>
                  <a:srgbClr val="3C3C3C"/>
                </a:solidFill>
                <a:latin typeface="Arial"/>
              </a:rPr>
              <a:t>Windows 10 u 11 de 64 bits.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■ Entorno: </a:t>
            </a:r>
            <a:r>
              <a:rPr sz="1300">
                <a:solidFill>
                  <a:srgbClr val="3C3C3C"/>
                </a:solidFill>
                <a:latin typeface="Arial"/>
              </a:rPr>
              <a:t>Python versión 3.10 o superior.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■ Base de datos: </a:t>
            </a:r>
            <a:r>
              <a:rPr sz="1300">
                <a:solidFill>
                  <a:srgbClr val="3C3C3C"/>
                </a:solidFill>
                <a:latin typeface="Arial"/>
              </a:rPr>
              <a:t>SQLite integrado en Python.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■ Soporte: </a:t>
            </a:r>
            <a:r>
              <a:rPr sz="1300">
                <a:solidFill>
                  <a:srgbClr val="3C3C3C"/>
                </a:solidFill>
                <a:latin typeface="Arial"/>
              </a:rPr>
              <a:t>Controladores actualizados para GPU.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219456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ctr">
              <a:defRPr sz="1100">
                <a:solidFill>
                  <a:srgbClr val="000000"/>
                </a:solidFill>
                <a:latin typeface="Arial Black"/>
              </a:defRPr>
            </a:pPr>
            <a:r>
              <a:t>Win 10/11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2286000"/>
            <a:ext cx="219456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ctr">
              <a:defRPr sz="1100">
                <a:solidFill>
                  <a:srgbClr val="000000"/>
                </a:solidFill>
                <a:latin typeface="Arial Black"/>
              </a:defRPr>
            </a:pPr>
            <a:r>
              <a:t>Python 3.10+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017520"/>
            <a:ext cx="219456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ctr">
              <a:defRPr sz="1100">
                <a:solidFill>
                  <a:srgbClr val="000000"/>
                </a:solidFill>
                <a:latin typeface="Arial Black"/>
              </a:defRPr>
            </a:pPr>
            <a:r>
              <a:t>SQLite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19088" y="1298448"/>
            <a:ext cx="5303520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303520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188720"/>
            <a:ext cx="5303520" cy="457200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  <a:latin typeface="Arial Black"/>
              </a:defRPr>
            </a:pPr>
            <a:r>
              <a:t>REQUISITOS DE HARDWARE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■ CPU: </a:t>
            </a:r>
            <a:r>
              <a:rPr sz="1300">
                <a:solidFill>
                  <a:srgbClr val="3C3C3C"/>
                </a:solidFill>
                <a:latin typeface="Arial"/>
              </a:rPr>
              <a:t>Intel i5 o AMD Ryzen 5 (mínimo 4 núcleos).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■ RAM: </a:t>
            </a:r>
            <a:r>
              <a:rPr sz="1300">
                <a:solidFill>
                  <a:srgbClr val="3C3C3C"/>
                </a:solidFill>
                <a:latin typeface="Arial"/>
              </a:rPr>
              <a:t>8 GB mínimo (se recomiendan 16 GB).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■ GPU: </a:t>
            </a:r>
            <a:r>
              <a:rPr sz="1300">
                <a:solidFill>
                  <a:srgbClr val="3C3C3C"/>
                </a:solidFill>
                <a:latin typeface="Arial"/>
              </a:rPr>
              <a:t>Dedicada con CUDA para tiempo real.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■ Video: </a:t>
            </a:r>
            <a:r>
              <a:rPr sz="1300">
                <a:solidFill>
                  <a:srgbClr val="3C3C3C"/>
                </a:solidFill>
                <a:latin typeface="Arial"/>
              </a:rPr>
              <a:t>Cámara USB, RTSP de cámara IP o captura.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286000"/>
            <a:ext cx="219456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ctr">
              <a:defRPr sz="1100">
                <a:solidFill>
                  <a:srgbClr val="000000"/>
                </a:solidFill>
                <a:latin typeface="Arial Black"/>
              </a:defRPr>
            </a:pPr>
            <a:r>
              <a:t>Core i5/Ryzen5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2286000"/>
            <a:ext cx="219456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ctr">
              <a:defRPr sz="1100">
                <a:solidFill>
                  <a:srgbClr val="000000"/>
                </a:solidFill>
                <a:latin typeface="Arial Black"/>
              </a:defRPr>
            </a:pPr>
            <a:r>
              <a:t>8GB/16GB RAM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3017520"/>
            <a:ext cx="219456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ctr">
              <a:defRPr sz="1100">
                <a:solidFill>
                  <a:srgbClr val="000000"/>
                </a:solidFill>
                <a:latin typeface="Arial Black"/>
              </a:defRPr>
            </a:pPr>
            <a:r>
              <a:t>USB/RTSP/Capture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035040"/>
            <a:ext cx="11094415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71455" y="6126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0000"/>
                </a:solidFill>
                <a:latin typeface="Arial Black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