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06240" y="0"/>
            <a:ext cx="109728" cy="685800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alistic_plat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0"/>
            <a:ext cx="7845552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343400" y="5029200"/>
            <a:ext cx="7845552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188720" cy="1188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164592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0F1A"/>
                </a:solidFill>
                <a:latin typeface="Calibri"/>
              </a:rPr>
              <a:t>ALERTA VECINAL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214884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Sistema Inteligente
de Reconocimiento
de Matrículas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251960"/>
            <a:ext cx="3200400" cy="64008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4389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8FF"/>
                </a:solidFill>
                <a:latin typeface="Calibri"/>
              </a:rPr>
              <a:t>Reporte de Proyecto — Unidad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50292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F"/>
                </a:solidFill>
                <a:latin typeface="Calibri"/>
              </a:rPr>
              <a:t>Jorge Gabriel Heredia Lara
Abdiel Gerardo Alonso Herrera
Geovani Coronado Cruz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BBDD"/>
                </a:solidFill>
                <a:latin typeface="Calibr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34440"/>
            <a:ext cx="4937760" cy="507492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09728" cy="507492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CC0F1A"/>
                </a:solidFill>
                <a:latin typeface="Calibri"/>
              </a:rPr>
              <a:t>63,726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3756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F5C"/>
                </a:solidFill>
                <a:latin typeface="Calibri"/>
              </a:rPr>
              <a:t>vehículos robados en México
durante 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99"/>
                </a:solidFill>
                <a:latin typeface="Calibri"/>
              </a:rPr>
              <a:t>Fuente: AMIS,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Solo el 40% de los vehículos
robados son recuperados.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371600"/>
            <a:ext cx="45720" cy="475488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371600"/>
            <a:ext cx="5943600" cy="13716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371600"/>
            <a:ext cx="91440" cy="1371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691640"/>
            <a:ext cx="320040" cy="32004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Las camaras solo graban el delito,
nadie las monitorea en tiempo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3017520"/>
            <a:ext cx="5943600" cy="13716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3017520"/>
            <a:ext cx="91440" cy="1371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337560"/>
            <a:ext cx="320040" cy="32004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Los reportes de robo tardan horas
en procesarse y llegar a la policia.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4663440"/>
            <a:ext cx="5943600" cy="13716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4663440"/>
            <a:ext cx="91440" cy="1371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4983480"/>
            <a:ext cx="320040" cy="32004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846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No existe una forma rapida de
verificar si un vehiculo es robado.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Nuestra Solucion: Alerta Vecinal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pic>
        <p:nvPicPr>
          <p:cNvPr id="6" name="Picture 5" descr="realistic_plat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143000"/>
            <a:ext cx="512064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A99"/>
                </a:solidFill>
                <a:latin typeface="Calibri"/>
              </a:rPr>
              <a:t>Deteccion de placa en tiempo real mediante camara IP con protocolo ONVIF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3017520" cy="22860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3017520" cy="109728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EC8"/>
                </a:solidFill>
                <a:latin typeface="Calibri"/>
              </a:rPr>
              <a:t>YOLOv8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Detecta la placa del vehiculo
en cada fotograma del video.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280160"/>
            <a:ext cx="3017520" cy="22860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39" y="1280160"/>
            <a:ext cx="3017520" cy="10972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9" y="14630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1F5C"/>
                </a:solidFill>
                <a:latin typeface="Calibri"/>
              </a:rPr>
              <a:t>PaddleOCR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20116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Lee y digitaliza los numeros y
letras de la placa al instante.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3017520" cy="22860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3017520" cy="109728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69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EC8"/>
                </a:solidFill>
                <a:latin typeface="Calibri"/>
              </a:rPr>
              <a:t>Flutter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617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Panel de control visual para
operadores de seguridad.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39" y="3886200"/>
            <a:ext cx="3017520" cy="22860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20439" y="3886200"/>
            <a:ext cx="3017520" cy="109728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9" y="4069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F1A"/>
                </a:solidFill>
                <a:latin typeface="Calibri"/>
              </a:rPr>
              <a:t>Telegram 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599" y="46177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Alerta en el celular en
menos de 3 segundos.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Metodologia: Enfoque Hibrido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34440"/>
            <a:ext cx="5486400" cy="512064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9144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5EC8"/>
                </a:solidFill>
                <a:latin typeface="Calibri"/>
              </a:rPr>
              <a:t>Diagrama de GANTT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Calibri"/>
              </a:rPr>
              <a:t>Para las etapas que deben seguir un orden
fijo antes de poder continuar con el sistema.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34640"/>
            <a:ext cx="228600" cy="228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Recoleccion y etiquetado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9748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EC8"/>
                </a:solidFill>
                <a:latin typeface="Calibri"/>
              </a:rPr>
              <a:t>5 dias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57600"/>
            <a:ext cx="228600" cy="228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Entrenamiento del modelo YOLOv8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204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EC8"/>
                </a:solidFill>
                <a:latin typeface="Calibri"/>
              </a:rPr>
              <a:t>7 dias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80560"/>
            <a:ext cx="228600" cy="228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434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Validacion y ajuste de pesos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434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EC8"/>
                </a:solidFill>
                <a:latin typeface="Calibri"/>
              </a:rPr>
              <a:t>5 dias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03520"/>
            <a:ext cx="228600" cy="22860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663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Integracion del servidor 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663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EC8"/>
                </a:solidFill>
                <a:latin typeface="Calibri"/>
              </a:rPr>
              <a:t>10 dias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234440"/>
            <a:ext cx="5486400" cy="9144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3716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0F1A"/>
                </a:solidFill>
                <a:latin typeface="Calibri"/>
              </a:rPr>
              <a:t>Tablero KANBAN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87451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Calibri"/>
              </a:rPr>
              <a:t>Para el desarrollo agil de la App y los modulos
de mensajeria, con cambios rapidos en equipo.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2606040"/>
            <a:ext cx="1234440" cy="347472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3096" y="2633472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Por Hacer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06324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313639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Servidor cloud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93192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00507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Manual de usuario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2606040"/>
            <a:ext cx="123444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08976" y="2633472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 Proceso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306324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5552" y="313639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Calibrar YOLOv8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393192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400507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App Flutter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480060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487375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OCR Texto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606040"/>
            <a:ext cx="1234440" cy="347472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34856" y="2633472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 Pruebas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06324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71432" y="313639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Latencia Telegram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93192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1432" y="400507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Cifrado AES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59" y="2606040"/>
            <a:ext cx="1234440" cy="347472"/>
          </a:xfrm>
          <a:prstGeom prst="rect">
            <a:avLst/>
          </a:prstGeom>
          <a:solidFill>
            <a:srgbClr val="00A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60735" y="2633472"/>
            <a:ext cx="11612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Listo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469879" y="306324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497311" y="313639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BD SQLite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69879" y="393192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97311" y="400507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Graficas App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79" y="4800600"/>
            <a:ext cx="1143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97311" y="487375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A1A2E"/>
                </a:solidFill>
                <a:latin typeface="Calibri"/>
              </a:rPr>
              <a:t>Entorno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Priorizacion MoSCoW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1188720"/>
            <a:ext cx="2743200" cy="5212080"/>
          </a:xfrm>
          <a:prstGeom prst="rect">
            <a:avLst/>
          </a:prstGeom>
          <a:solidFill>
            <a:srgbClr val="FFE5E5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50292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MUST HAVE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039111"/>
            <a:ext cx="146304" cy="14630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Deteccion de placas con YOLOv8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3090671"/>
            <a:ext cx="146304" cy="14630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7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Base de datos local 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4142231"/>
            <a:ext cx="146304" cy="14630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3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Alertas automaticas por Telegram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5193792"/>
            <a:ext cx="146304" cy="14630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Consulta a BD del REPUVE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1188720"/>
            <a:ext cx="2743200" cy="521208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82112" y="1188720"/>
            <a:ext cx="2743200" cy="50292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12344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SHOULD HAVE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704" y="2039111"/>
            <a:ext cx="146304" cy="146304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18745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App visual en Flutter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46704" y="3090671"/>
            <a:ext cx="146304" cy="146304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93592" y="292607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Alertas por WhatsApp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46704" y="4142231"/>
            <a:ext cx="146304" cy="146304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397763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Scripts de configuracion automatica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9904" y="1188720"/>
            <a:ext cx="2743200" cy="5212080"/>
          </a:xfrm>
          <a:prstGeom prst="rect">
            <a:avLst/>
          </a:prstGeom>
          <a:solidFill>
            <a:srgbClr val="D6F0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9904" y="1188720"/>
            <a:ext cx="2743200" cy="502920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12344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COULD HAVE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2039111"/>
            <a:ext cx="146304" cy="14630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18745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Superresolucion ESRGAN para
placas borrosas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54496" y="3090671"/>
            <a:ext cx="146304" cy="146304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4" y="292607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Bot bidireccional de Telegram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97696" y="1188720"/>
            <a:ext cx="2743200" cy="5212080"/>
          </a:xfrm>
          <a:prstGeom prst="rect">
            <a:avLst/>
          </a:prstGeom>
          <a:solidFill>
            <a:srgbClr val="F0F0F4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97696" y="1188720"/>
            <a:ext cx="2743200" cy="502920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89136" y="123444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WON'T HAVE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62288" y="2039111"/>
            <a:ext cx="146304" cy="146304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9176" y="187451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Base de datos cloud masiva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62288" y="3090671"/>
            <a:ext cx="146304" cy="146304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09176" y="2926079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Apertura automatica de barreras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Avances al Dia de Hoy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1234440"/>
            <a:ext cx="2743200" cy="36576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9144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828800" cy="34747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90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5C"/>
                </a:solidFill>
                <a:latin typeface="Calibri"/>
              </a:rPr>
              <a:t>Modelo IA
Entrenado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234440"/>
            <a:ext cx="2743200" cy="36576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234440"/>
            <a:ext cx="2743200" cy="9144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75888" y="1463040"/>
            <a:ext cx="1828800" cy="34747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1490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20116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5C"/>
                </a:solidFill>
                <a:latin typeface="Calibri"/>
              </a:rPr>
              <a:t>Base de Datos
SQLite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234440"/>
            <a:ext cx="2743200" cy="3657600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234440"/>
            <a:ext cx="2743200" cy="9144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0256" y="1463040"/>
            <a:ext cx="1828800" cy="34747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1490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COMPLETADO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0116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1F5C"/>
                </a:solidFill>
                <a:latin typeface="Calibri"/>
              </a:rPr>
              <a:t>Alertas
Telegram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234440"/>
            <a:ext cx="2743200" cy="3657600"/>
          </a:xfrm>
          <a:prstGeom prst="rect">
            <a:avLst/>
          </a:prstGeom>
          <a:solidFill>
            <a:srgbClr val="FFE5E5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07424" y="1234440"/>
            <a:ext cx="2743200" cy="91440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64624" y="1463040"/>
            <a:ext cx="1828800" cy="347472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64624" y="149047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 PROCESO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0116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0F1A"/>
                </a:solidFill>
                <a:latin typeface="Calibri"/>
              </a:rPr>
              <a:t>App Flutter
Integracion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49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Progreso general del proyecto: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534924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EC8"/>
                </a:solidFill>
                <a:latin typeface="Calibri"/>
              </a:rPr>
              <a:t>75%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852160"/>
            <a:ext cx="11430000" cy="41148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852160"/>
            <a:ext cx="8567928" cy="41148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ealistic_plat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25880"/>
            <a:ext cx="47548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Cronograma de Actividades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23360" y="1188720"/>
            <a:ext cx="7772400" cy="4992624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0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3684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6524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4008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6848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4332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7172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4657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7497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4981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7821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5305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88145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30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75630" y="1188720"/>
            <a:ext cx="13716" cy="4992624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38470" y="62727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A99"/>
                </a:solidFill>
                <a:latin typeface="Calibri"/>
              </a:rPr>
              <a:t>35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1188720"/>
            <a:ext cx="1156716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38988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Levantamiento de requerimientos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1353312"/>
            <a:ext cx="1050324" cy="384048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78224" y="1371600"/>
            <a:ext cx="10503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1031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Entrenamiento YOLOv8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3684" y="2066544"/>
            <a:ext cx="1470454" cy="384048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8548" y="2084832"/>
            <a:ext cx="1470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7d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615184"/>
            <a:ext cx="1156716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8163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Desarrollo BD y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44138" y="2779776"/>
            <a:ext cx="1050324" cy="384048"/>
          </a:xfrm>
          <a:prstGeom prst="rect">
            <a:avLst/>
          </a:prstGeom>
          <a:solidFill>
            <a:srgbClr val="00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99002" y="2798064"/>
            <a:ext cx="10503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5295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Programacion App Flutter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94462" y="3493008"/>
            <a:ext cx="2100648" cy="384048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49326" y="3511296"/>
            <a:ext cx="21006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10d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4041648"/>
            <a:ext cx="1156716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24281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Integracion Telegram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95111" y="4206240"/>
            <a:ext cx="630194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49975" y="4224528"/>
            <a:ext cx="6301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5604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Pruebas y Control de Calidad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25305" y="4919472"/>
            <a:ext cx="840259" cy="384048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80169" y="4937760"/>
            <a:ext cx="8402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4d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5468112"/>
            <a:ext cx="11567160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669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Correccion y Entrega Final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165565" y="5632704"/>
            <a:ext cx="630194" cy="384048"/>
          </a:xfrm>
          <a:prstGeom prst="rect">
            <a:avLst/>
          </a:prstGeom>
          <a:solidFill>
            <a:srgbClr val="88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20429" y="5650992"/>
            <a:ext cx="6301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76174" y="1188720"/>
            <a:ext cx="36576" cy="4992624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28702" y="654710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5EC8"/>
                </a:solidFill>
                <a:latin typeface="Calibri"/>
              </a:rPr>
              <a:t>Hito 1
Backend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07017" y="1188720"/>
            <a:ext cx="36576" cy="4992624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59545" y="654710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A500"/>
                </a:solidFill>
                <a:latin typeface="Calibri"/>
              </a:rPr>
              <a:t>Hito 2
App OK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77472" y="1188720"/>
            <a:ext cx="36576" cy="499262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0" y="6547104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C0F1A"/>
                </a:solidFill>
                <a:latin typeface="Calibri"/>
              </a:rPr>
              <a:t>Hito 3
Entrega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23360" y="70500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A99"/>
                </a:solidFill>
                <a:latin typeface="Calibri"/>
              </a:rPr>
              <a:t>Dias habiles — Junio / Julio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Recursos e Inversion</a:t>
            </a:r>
          </a:p>
        </p:txBody>
      </p:sp>
      <p:pic>
        <p:nvPicPr>
          <p:cNvPr id="5" name="Picture 4" descr="logo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572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1280160"/>
            <a:ext cx="4114800" cy="5029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4114800" cy="9144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EC8"/>
                </a:solidFill>
                <a:latin typeface="Calibri"/>
              </a:rPr>
              <a:t>Inversion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200" b="1" i="0">
                <a:solidFill>
                  <a:srgbClr val="0A1F5C"/>
                </a:solidFill>
                <a:latin typeface="Calibri"/>
              </a:rPr>
              <a:t>$700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566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C0F1A"/>
                </a:solidFill>
                <a:latin typeface="Calibri"/>
              </a:rPr>
              <a:t>MXN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3657600" cy="45720"/>
          </a:xfrm>
          <a:prstGeom prst="rect">
            <a:avLst/>
          </a:prstGeom>
          <a:solidFill>
            <a:srgbClr val="D0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A99"/>
                </a:solidFill>
                <a:latin typeface="Calibri"/>
              </a:rPr>
              <a:t>Alta tecnologia, costo accesible.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El resto de las herramientas
utilizadas son 100% gratuitas
y de codigo abierto.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325880"/>
            <a:ext cx="6949440" cy="804672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1325880"/>
            <a:ext cx="91440" cy="804672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481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Camara IP protocolo ONVIF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148132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C0F1A"/>
                </a:solidFill>
                <a:latin typeface="Calibri"/>
              </a:rPr>
              <a:t>$700 MXN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304288"/>
            <a:ext cx="6949440" cy="804672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2304288"/>
            <a:ext cx="91440" cy="80467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245973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Python + YOLOv8 + PaddleOCR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0" y="245973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EC8"/>
                </a:solidFill>
                <a:latin typeface="Calibri"/>
              </a:rPr>
              <a:t>Gratuito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282696"/>
            <a:ext cx="6949440" cy="804672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3282696"/>
            <a:ext cx="91440" cy="80467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4381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Flutter SDK + Dart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3438144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EC8"/>
                </a:solidFill>
                <a:latin typeface="Calibri"/>
              </a:rPr>
              <a:t>Gratuito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261104"/>
            <a:ext cx="6949440" cy="804672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4261104"/>
            <a:ext cx="91440" cy="804672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44165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REPUVE API + SQLite local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416552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A1F5C"/>
                </a:solidFill>
                <a:latin typeface="Calibri"/>
              </a:rPr>
              <a:t>Publico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5239512"/>
            <a:ext cx="6949440" cy="804672"/>
          </a:xfrm>
          <a:prstGeom prst="rect">
            <a:avLst/>
          </a:prstGeom>
          <a:solidFill>
            <a:srgbClr val="D6E8FF"/>
          </a:solidFill>
          <a:ln w="12700">
            <a:solidFill>
              <a:srgbClr val="D0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5239512"/>
            <a:ext cx="91440" cy="80467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5394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Bot de Telegram / API mensajeria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3949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A5EC8"/>
                </a:solidFill>
                <a:latin typeface="Calibri"/>
              </a:rPr>
              <a:t>Gratuito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alistic_plat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31520"/>
            <a:ext cx="585216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0" y="731520"/>
            <a:ext cx="5852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listic_plate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731520"/>
            <a:ext cx="585216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26480" y="731520"/>
            <a:ext cx="73152" cy="4389120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54480" y="320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1F5C"/>
                </a:solidFill>
                <a:latin typeface="Calibri"/>
              </a:rPr>
              <a:t>Proximos Pasos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005840"/>
            <a:ext cx="4297680" cy="54864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1417320"/>
            <a:ext cx="256032" cy="256032"/>
          </a:xfrm>
          <a:prstGeom prst="rect">
            <a:avLst/>
          </a:prstGeom>
          <a:solidFill>
            <a:srgbClr val="1A5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12344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Calibrar YOLOv8 para condiciones de lluvia y baja luz.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2331720"/>
            <a:ext cx="256032" cy="256032"/>
          </a:xfrm>
          <a:prstGeom prst="rect">
            <a:avLst/>
          </a:prstGeom>
          <a:solidFill>
            <a:srgbClr val="0A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1488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Finalizar integracion Frontend-Backend en App Flutter.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246120"/>
            <a:ext cx="256032" cy="256032"/>
          </a:xfrm>
          <a:prstGeom prst="rect">
            <a:avLst/>
          </a:prstGeom>
          <a:solidFill>
            <a:srgbClr val="CC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3063240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Generar reportes exportables a PDF desde la App.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4160519"/>
            <a:ext cx="256032" cy="256032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5960" y="3977639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Pruebas de estres final y ajuste de latencia.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77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F"/>
                </a:solidFill>
                <a:latin typeface="Calibri"/>
              </a:rPr>
              <a:t>github.com/Abdiel2501/yolo-plate-recognition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  <a:latin typeface="Calibri"/>
              </a:rPr>
              <a:t>Abdiel Alonso  |  Jorge Heredia  |  Geovani Coronado  |  Junio 2026</a:t>
            </a:r>
          </a:p>
        </p:txBody>
      </p:sp>
      <p:pic>
        <p:nvPicPr>
          <p:cNvPr id="21" name="Picture 20" descr="logo_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3949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